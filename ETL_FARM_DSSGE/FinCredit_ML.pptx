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q/CKZ/Sp3BKlHhi9WnyJsHmIu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b863e7e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f3b863e7e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f3b863e7e3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b5badd0a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3b5badd0a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3b5badd0a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b5badd0a_0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3b5badd0a_0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3b5badd0a_0_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3b5badd0a_0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3b5badd0a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3b5badd0a_0_3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773e2a6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5773e2a6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f5773e2a6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3b863e7e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3b863e7e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3b863e7e3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82296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777240" y="2103120"/>
            <a:ext cx="10607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FinCredit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32918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Credit scoring con Machine Learning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8862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Caso práctico  ·  Metodología CRISP-DM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De reglas estáticas a decisiones de crédito basadas en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937200" y="4451700"/>
            <a:ext cx="53769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ADCFC"/>
                </a:solidFill>
              </a:rPr>
              <a:t>Integrantes: </a:t>
            </a:r>
            <a:endParaRPr>
              <a:solidFill>
                <a:srgbClr val="CADCFC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Char char="●"/>
            </a:pPr>
            <a:r>
              <a:t/>
            </a:r>
            <a:endParaRPr>
              <a:solidFill>
                <a:srgbClr val="CADCF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 problema: crédito sin medir el riesgo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371600"/>
            <a:ext cx="3200400" cy="1143000"/>
          </a:xfrm>
          <a:prstGeom prst="roundRect">
            <a:avLst>
              <a:gd fmla="val 72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8640" y="149961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Reglas estáticas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9202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Variables demográficas básicas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794760" y="164592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343400" y="1371600"/>
            <a:ext cx="3200400" cy="1143000"/>
          </a:xfrm>
          <a:prstGeom prst="roundRect">
            <a:avLst>
              <a:gd fmla="val 72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343400" y="149961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Cartera más heterogénea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343400" y="19202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Crecimiento acelerado de clientes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589520" y="164592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138160" y="1371600"/>
            <a:ext cx="3200400" cy="1143000"/>
          </a:xfrm>
          <a:prstGeom prst="roundRect">
            <a:avLst>
              <a:gd fmla="val 7200" name="adj"/>
            </a:avLst>
          </a:prstGeom>
          <a:solidFill>
            <a:srgbClr val="FD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138160" y="149961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Morosidad en aumento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138160" y="19202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Síntoma, no la causa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decisiones puede automatizar el ML?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3474720"/>
            <a:ext cx="2103120" cy="2011680"/>
          </a:xfrm>
          <a:prstGeom prst="roundRect">
            <a:avLst>
              <a:gd fmla="val 4091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98448" y="370332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464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21792" y="4480560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Aprobación o rechazo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" y="4864608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 microcréditos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88920" y="3474720"/>
            <a:ext cx="2103120" cy="2011680"/>
          </a:xfrm>
          <a:prstGeom prst="roundRect">
            <a:avLst>
              <a:gd fmla="val 4091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538728" y="370332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2862072" y="4480560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Monto y tasa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862072" y="4864608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según nivel de riesgo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0" y="3474720"/>
            <a:ext cx="2103120" cy="2011680"/>
          </a:xfrm>
          <a:prstGeom prst="roundRect">
            <a:avLst>
              <a:gd fmla="val 4091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779008" y="370332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7024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5102352" y="4480560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Priorización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102352" y="4864608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 cobranza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269480" y="3474720"/>
            <a:ext cx="2103120" cy="2011680"/>
          </a:xfrm>
          <a:prstGeom prst="roundRect">
            <a:avLst>
              <a:gd fmla="val 4091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019288" y="370332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7304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7342632" y="4480560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Ofertas comerciales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342632" y="4864608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diferenciadas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509760" y="3474720"/>
            <a:ext cx="2103120" cy="2011680"/>
          </a:xfrm>
          <a:prstGeom prst="roundRect">
            <a:avLst>
              <a:gd fmla="val 4091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0259568" y="370332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9582912" y="4480560"/>
            <a:ext cx="1956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Alertas tempranas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582912" y="4864608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 deterioro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Éxito medido con KPIs técnicos (AUC-ROC, Recall, KS) y de negocio (morosidad, tasa de aprobación, tiempo de aprobación).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b863e7e3_0_7"/>
          <p:cNvSpPr/>
          <p:nvPr/>
        </p:nvSpPr>
        <p:spPr>
          <a:xfrm>
            <a:off x="548640" y="36576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APLICACIÓN DE CRISP-DM</a:t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3b863e7e3_0_7"/>
          <p:cNvSpPr/>
          <p:nvPr/>
        </p:nvSpPr>
        <p:spPr>
          <a:xfrm>
            <a:off x="563840" y="1066205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2700" u="none" cap="none" strike="noStrike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Seis fases, un mismo hilo conductor</a:t>
            </a:r>
            <a:endParaRPr b="0" i="0" sz="27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3b863e7e3_0_7"/>
          <p:cNvSpPr/>
          <p:nvPr/>
        </p:nvSpPr>
        <p:spPr>
          <a:xfrm>
            <a:off x="40233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3b863e7e3_0_7"/>
          <p:cNvSpPr/>
          <p:nvPr/>
        </p:nvSpPr>
        <p:spPr>
          <a:xfrm>
            <a:off x="53949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3b863e7e3_0_7"/>
          <p:cNvSpPr/>
          <p:nvPr/>
        </p:nvSpPr>
        <p:spPr>
          <a:xfrm>
            <a:off x="53949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negocio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3b863e7e3_0_7"/>
          <p:cNvSpPr/>
          <p:nvPr/>
        </p:nvSpPr>
        <p:spPr>
          <a:xfrm>
            <a:off x="53949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Diagnóstico y KPIs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3b863e7e3_0_7"/>
          <p:cNvSpPr/>
          <p:nvPr/>
        </p:nvSpPr>
        <p:spPr>
          <a:xfrm>
            <a:off x="2185416" y="36118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3b863e7e3_0_7"/>
          <p:cNvSpPr/>
          <p:nvPr/>
        </p:nvSpPr>
        <p:spPr>
          <a:xfrm>
            <a:off x="232257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3b863e7e3_0_7"/>
          <p:cNvSpPr/>
          <p:nvPr/>
        </p:nvSpPr>
        <p:spPr>
          <a:xfrm>
            <a:off x="245973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3b863e7e3_0_7"/>
          <p:cNvSpPr/>
          <p:nvPr/>
        </p:nvSpPr>
        <p:spPr>
          <a:xfrm>
            <a:off x="245973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los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3b863e7e3_0_7"/>
          <p:cNvSpPr/>
          <p:nvPr/>
        </p:nvSpPr>
        <p:spPr>
          <a:xfrm>
            <a:off x="245973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Clasificación y calidad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3b863e7e3_0_7"/>
          <p:cNvSpPr/>
          <p:nvPr/>
        </p:nvSpPr>
        <p:spPr>
          <a:xfrm>
            <a:off x="4105656" y="36118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3b863e7e3_0_7"/>
          <p:cNvSpPr/>
          <p:nvPr/>
        </p:nvSpPr>
        <p:spPr>
          <a:xfrm>
            <a:off x="424281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3b863e7e3_0_7"/>
          <p:cNvSpPr/>
          <p:nvPr/>
        </p:nvSpPr>
        <p:spPr>
          <a:xfrm>
            <a:off x="437997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3b863e7e3_0_7"/>
          <p:cNvSpPr/>
          <p:nvPr/>
        </p:nvSpPr>
        <p:spPr>
          <a:xfrm>
            <a:off x="437997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los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3b863e7e3_0_7"/>
          <p:cNvSpPr/>
          <p:nvPr/>
        </p:nvSpPr>
        <p:spPr>
          <a:xfrm>
            <a:off x="437997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Faltantes y variables derivadas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3b863e7e3_0_7"/>
          <p:cNvSpPr/>
          <p:nvPr/>
        </p:nvSpPr>
        <p:spPr>
          <a:xfrm>
            <a:off x="6025896" y="36118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3b863e7e3_0_7"/>
          <p:cNvSpPr/>
          <p:nvPr/>
        </p:nvSpPr>
        <p:spPr>
          <a:xfrm>
            <a:off x="616305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b863e7e3_0_7"/>
          <p:cNvSpPr/>
          <p:nvPr/>
        </p:nvSpPr>
        <p:spPr>
          <a:xfrm>
            <a:off x="630021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3b863e7e3_0_7"/>
          <p:cNvSpPr/>
          <p:nvPr/>
        </p:nvSpPr>
        <p:spPr>
          <a:xfrm>
            <a:off x="630021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3b863e7e3_0_7"/>
          <p:cNvSpPr/>
          <p:nvPr/>
        </p:nvSpPr>
        <p:spPr>
          <a:xfrm>
            <a:off x="630021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Random Forest + K-Means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3b863e7e3_0_7"/>
          <p:cNvSpPr/>
          <p:nvPr/>
        </p:nvSpPr>
        <p:spPr>
          <a:xfrm>
            <a:off x="7946136" y="36118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3b863e7e3_0_7"/>
          <p:cNvSpPr/>
          <p:nvPr/>
        </p:nvSpPr>
        <p:spPr>
          <a:xfrm>
            <a:off x="808329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3b863e7e3_0_7"/>
          <p:cNvSpPr/>
          <p:nvPr/>
        </p:nvSpPr>
        <p:spPr>
          <a:xfrm>
            <a:off x="822045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3b863e7e3_0_7"/>
          <p:cNvSpPr/>
          <p:nvPr/>
        </p:nvSpPr>
        <p:spPr>
          <a:xfrm>
            <a:off x="822045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3b863e7e3_0_7"/>
          <p:cNvSpPr/>
          <p:nvPr/>
        </p:nvSpPr>
        <p:spPr>
          <a:xfrm>
            <a:off x="822045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AUC, KS, Silhouette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3b863e7e3_0_7"/>
          <p:cNvSpPr/>
          <p:nvPr/>
        </p:nvSpPr>
        <p:spPr>
          <a:xfrm>
            <a:off x="9866376" y="36118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3b863e7e3_0_7"/>
          <p:cNvSpPr/>
          <p:nvPr/>
        </p:nvSpPr>
        <p:spPr>
          <a:xfrm>
            <a:off x="10003536" y="2377440"/>
            <a:ext cx="1783200" cy="3108900"/>
          </a:xfrm>
          <a:prstGeom prst="roundRect">
            <a:avLst>
              <a:gd fmla="val 4103" name="adj"/>
            </a:avLst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3b863e7e3_0_7"/>
          <p:cNvSpPr/>
          <p:nvPr/>
        </p:nvSpPr>
        <p:spPr>
          <a:xfrm>
            <a:off x="10140696" y="2514600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3b863e7e3_0_7"/>
          <p:cNvSpPr/>
          <p:nvPr/>
        </p:nvSpPr>
        <p:spPr>
          <a:xfrm>
            <a:off x="10140696" y="315468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3b863e7e3_0_7"/>
          <p:cNvSpPr/>
          <p:nvPr/>
        </p:nvSpPr>
        <p:spPr>
          <a:xfrm>
            <a:off x="10140696" y="4160520"/>
            <a:ext cx="1508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CE6F1"/>
                </a:solidFill>
                <a:latin typeface="Calibri"/>
                <a:ea typeface="Calibri"/>
                <a:cs typeface="Calibri"/>
                <a:sym typeface="Calibri"/>
              </a:rPr>
              <a:t>Scoring, pricing, segmentos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3b863e7e3_0_7"/>
          <p:cNvSpPr/>
          <p:nvPr/>
        </p:nvSpPr>
        <p:spPr>
          <a:xfrm>
            <a:off x="11612880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Los datos: 16 variables, 6 categorías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858000" y="1234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Principales riesgos de calidad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7269480" y="17830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Ingresos autodeclarados sin verificación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7269480" y="235000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Valores faltantes (aleatorios e informativos)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9626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7269480" y="291693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Categorías inconsistentes en texto libre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7269480" y="3483864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Clientes duplicados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40965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7269480" y="4050792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Atípicos y errores de digitación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7269480" y="46177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Definiciones ambiguas (¿qué es un “atraso”?)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858000" y="5349240"/>
            <a:ext cx="4800600" cy="777240"/>
          </a:xfrm>
          <a:prstGeom prst="roundRect">
            <a:avLst>
              <a:gd fmla="val 941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995160" y="539496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Faltantes: </a:t>
            </a: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mediana/moda si es aleatorio · categoría “sin dato” si es informativo · descartar si falta el target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5475" y="1234450"/>
            <a:ext cx="6327326" cy="5196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Ingeniería de características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13716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800"/>
              <a:buFont typeface="Calibri"/>
              <a:buNone/>
            </a:pPr>
            <a:r>
              <a:rPr b="1" i="0" lang="en-US" sz="8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48640" y="27432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variables derivadas propuestas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48640" y="365760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Convierten variables base en señales más completas de riesgo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83280" y="1371600"/>
            <a:ext cx="4114800" cy="2148840"/>
          </a:xfrm>
          <a:prstGeom prst="roundRect">
            <a:avLst>
              <a:gd fmla="val 4255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657600" y="1645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5616" y="1773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4389120" y="1664208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Capacidad de pago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657600" y="242316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Ratio deuda/ingresos · Monto/Ingresos · Variabilidad de ingresos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818120" y="1371600"/>
            <a:ext cx="4114800" cy="2148840"/>
          </a:xfrm>
          <a:prstGeom prst="roundRect">
            <a:avLst>
              <a:gd fmla="val 4255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8092440" y="1645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0456" y="1773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8823960" y="1664208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Comportamiento crediticio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8092440" y="242316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Score de cumplimiento · Frecuencia relativa de atrasos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383280" y="3840480"/>
            <a:ext cx="4114800" cy="2148840"/>
          </a:xfrm>
          <a:prstGeom prst="roundRect">
            <a:avLst>
              <a:gd fmla="val 4255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657600" y="411480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5616" y="42428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4389120" y="4133088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Relación con la empresa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657600" y="48920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Antigüedad · Diversidad de productos financieros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818120" y="3840480"/>
            <a:ext cx="4114800" cy="2148840"/>
          </a:xfrm>
          <a:prstGeom prst="roundRect">
            <a:avLst>
              <a:gd fmla="val 4255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8092440" y="411480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0456" y="42428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/>
          <p:nvPr/>
        </p:nvSpPr>
        <p:spPr>
          <a:xfrm>
            <a:off x="8823960" y="4133088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Uso digital y transaccional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092440" y="48920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Uso de canales digitales · Intensidad transaccional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Las más relevantes para el modelo supervisado: ratio deuda/ingresos, score de cumplimiento y frecuencia relativa de atrasos.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b5badd0a_0_27"/>
          <p:cNvSpPr/>
          <p:nvPr/>
        </p:nvSpPr>
        <p:spPr>
          <a:xfrm>
            <a:off x="502920" y="384048"/>
            <a:ext cx="567000" cy="5670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g3f3b5badd0a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93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3b5badd0a_0_27"/>
          <p:cNvSpPr/>
          <p:nvPr/>
        </p:nvSpPr>
        <p:spPr>
          <a:xfrm>
            <a:off x="1234440" y="365760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PARTE IV · 4.1 MODELO SUPERVISADO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3b5badd0a_0_27"/>
          <p:cNvSpPr/>
          <p:nvPr/>
        </p:nvSpPr>
        <p:spPr>
          <a:xfrm>
            <a:off x="1234440" y="603504"/>
            <a:ext cx="10424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La evidencia respalda a Random Forest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3b5badd0a_0_27"/>
          <p:cNvSpPr/>
          <p:nvPr/>
        </p:nvSpPr>
        <p:spPr>
          <a:xfrm>
            <a:off x="502920" y="1417320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AUC-ROC por modelo — Li &amp; Chen (2020), préstamos Lending Club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3b5badd0a_0_27"/>
          <p:cNvSpPr/>
          <p:nvPr/>
        </p:nvSpPr>
        <p:spPr>
          <a:xfrm>
            <a:off x="365045" y="5459860"/>
            <a:ext cx="6675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8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Random Forest lidera en AUC-ROC</a:t>
            </a:r>
            <a:r>
              <a:rPr i="1" lang="en-US" sz="1150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 (0.8580)</a:t>
            </a:r>
            <a:r>
              <a:rPr b="0" i="1" lang="en-US" sz="115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, Gini (0.716), </a:t>
            </a:r>
            <a:r>
              <a:rPr i="1" lang="en-US" sz="1150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KS (0.5507) </a:t>
            </a:r>
            <a:r>
              <a:rPr b="0" i="1" lang="en-US" sz="115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y Brier Score (0.1260): el mejor de los modelos evaluados.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3b5badd0a_0_27"/>
          <p:cNvSpPr/>
          <p:nvPr/>
        </p:nvSpPr>
        <p:spPr>
          <a:xfrm>
            <a:off x="7589405" y="1248095"/>
            <a:ext cx="4206300" cy="480060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3b5badd0a_0_27"/>
          <p:cNvSpPr/>
          <p:nvPr/>
        </p:nvSpPr>
        <p:spPr>
          <a:xfrm>
            <a:off x="7772400" y="1600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SHREYA &amp; PATHAK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3b5badd0a_0_27"/>
          <p:cNvSpPr/>
          <p:nvPr/>
        </p:nvSpPr>
        <p:spPr>
          <a:xfrm>
            <a:off x="7772400" y="1901952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no gana en accuracy ni AUC…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pero sí en Recall: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3b5badd0a_0_27"/>
          <p:cNvSpPr/>
          <p:nvPr/>
        </p:nvSpPr>
        <p:spPr>
          <a:xfrm>
            <a:off x="7772400" y="2651760"/>
            <a:ext cx="3657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0.304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3b5badd0a_0_27"/>
          <p:cNvSpPr/>
          <p:nvPr/>
        </p:nvSpPr>
        <p:spPr>
          <a:xfrm>
            <a:off x="7772400" y="352044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5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5F2"/>
                </a:solidFill>
                <a:latin typeface="Calibri"/>
                <a:ea typeface="Calibri"/>
                <a:cs typeface="Calibri"/>
                <a:sym typeface="Calibri"/>
              </a:rPr>
              <a:t>Recall de 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3b5badd0a_0_27"/>
          <p:cNvSpPr/>
          <p:nvPr/>
        </p:nvSpPr>
        <p:spPr>
          <a:xfrm>
            <a:off x="7772400" y="3886200"/>
            <a:ext cx="3657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vs. XGBoost 0.157  ·  LightGBM 0.143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¿Por qué priorizar Recall? 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 microfinanzas, no detectar a un cliente que va a incumplir cuesta más que rechazar a un buen cliente.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3b5badd0a_0_27"/>
          <p:cNvSpPr/>
          <p:nvPr/>
        </p:nvSpPr>
        <p:spPr>
          <a:xfrm>
            <a:off x="11430000" y="64739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f3b5badd0a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50" y="1792425"/>
            <a:ext cx="5573726" cy="34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b5badd0a_0_321"/>
          <p:cNvSpPr/>
          <p:nvPr/>
        </p:nvSpPr>
        <p:spPr>
          <a:xfrm>
            <a:off x="502920" y="384048"/>
            <a:ext cx="567000" cy="5670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g3f3b5badd0a_0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93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f3b5badd0a_0_321"/>
          <p:cNvSpPr/>
          <p:nvPr/>
        </p:nvSpPr>
        <p:spPr>
          <a:xfrm>
            <a:off x="1234440" y="365760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PARTE IV · 4.1 MODELO SUPERVISADO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3b5badd0a_0_321"/>
          <p:cNvSpPr/>
          <p:nvPr/>
        </p:nvSpPr>
        <p:spPr>
          <a:xfrm>
            <a:off x="1234440" y="603504"/>
            <a:ext cx="10424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Random Forest: ficha de la elección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3b5badd0a_0_321"/>
          <p:cNvSpPr/>
          <p:nvPr/>
        </p:nvSpPr>
        <p:spPr>
          <a:xfrm>
            <a:off x="502920" y="1417320"/>
            <a:ext cx="11201400" cy="1143000"/>
          </a:xfrm>
          <a:prstGeom prst="roundRect">
            <a:avLst>
              <a:gd fmla="val 7200" name="adj"/>
            </a:avLst>
          </a:prstGeom>
          <a:solidFill>
            <a:srgbClr val="2E2A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3b5badd0a_0_321"/>
          <p:cNvSpPr/>
          <p:nvPr/>
        </p:nvSpPr>
        <p:spPr>
          <a:xfrm>
            <a:off x="777240" y="1554480"/>
            <a:ext cx="1060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RAZÓN DE LA ELECCIÓN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3b5badd0a_0_321"/>
          <p:cNvSpPr/>
          <p:nvPr/>
        </p:nvSpPr>
        <p:spPr>
          <a:xfrm>
            <a:off x="777240" y="1810512"/>
            <a:ext cx="10607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Ensamble tipo bagging con el mejor desempeño en las cuatro métricas de Li &amp; Chen (2020) y el mayor Recall en Shreya &amp; Pathak (2025): balance entre desempeño, robustez y explicabilidad, alineado al costo asimétrico de los falsos negativos en microfinanzas.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3b5badd0a_0_321"/>
          <p:cNvSpPr/>
          <p:nvPr/>
        </p:nvSpPr>
        <p:spPr>
          <a:xfrm>
            <a:off x="502920" y="2743200"/>
            <a:ext cx="5486400" cy="2148900"/>
          </a:xfrm>
          <a:prstGeom prst="roundRect">
            <a:avLst>
              <a:gd fmla="val 3830" name="adj"/>
            </a:avLst>
          </a:prstGeom>
          <a:solidFill>
            <a:srgbClr val="F1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3b5badd0a_0_321"/>
          <p:cNvSpPr/>
          <p:nvPr/>
        </p:nvSpPr>
        <p:spPr>
          <a:xfrm>
            <a:off x="731520" y="2889504"/>
            <a:ext cx="384000" cy="384000"/>
          </a:xfrm>
          <a:prstGeom prst="ellipse">
            <a:avLst/>
          </a:prstGeom>
          <a:solidFill>
            <a:srgbClr val="2FA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g3f3b5badd0a_0_3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29626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3b5badd0a_0_321"/>
          <p:cNvSpPr/>
          <p:nvPr/>
        </p:nvSpPr>
        <p:spPr>
          <a:xfrm>
            <a:off x="1234440" y="2889504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3b5badd0a_0_321"/>
          <p:cNvSpPr/>
          <p:nvPr/>
        </p:nvSpPr>
        <p:spPr>
          <a:xfrm>
            <a:off x="777240" y="3346704"/>
            <a:ext cx="5029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Mejor desempeño global entre los 10 modelos de Li &amp; Chen (2020)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Maneja relaciones no lineales sin transformar variables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Mayor Recall: capta más clientes realmente riesgosos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Robusto ante outliers y datos faltantes; permite feature importance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3b5badd0a_0_321"/>
          <p:cNvSpPr/>
          <p:nvPr/>
        </p:nvSpPr>
        <p:spPr>
          <a:xfrm>
            <a:off x="6263640" y="2743200"/>
            <a:ext cx="5440800" cy="2148900"/>
          </a:xfrm>
          <a:prstGeom prst="roundRect">
            <a:avLst>
              <a:gd fmla="val 3830" name="adj"/>
            </a:avLst>
          </a:prstGeom>
          <a:solidFill>
            <a:srgbClr val="F1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3b5badd0a_0_321"/>
          <p:cNvSpPr/>
          <p:nvPr/>
        </p:nvSpPr>
        <p:spPr>
          <a:xfrm>
            <a:off x="6492240" y="2889504"/>
            <a:ext cx="384000" cy="384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g3f3b5badd0a_0_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5392" y="29626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f3b5badd0a_0_321"/>
          <p:cNvSpPr/>
          <p:nvPr/>
        </p:nvSpPr>
        <p:spPr>
          <a:xfrm>
            <a:off x="6995160" y="2889504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Desventajas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3b5badd0a_0_321"/>
          <p:cNvSpPr/>
          <p:nvPr/>
        </p:nvSpPr>
        <p:spPr>
          <a:xfrm>
            <a:off x="6537960" y="3346704"/>
            <a:ext cx="4937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No lidera en accuracy/AUC frente a XGBoost y LightGBM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Mayor Recall con menor Precision (0.165): más falsos positivos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Menos interpretable que la Regresión Logística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Mayor costo computacional que un modelo lineal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3b5badd0a_0_321"/>
          <p:cNvSpPr/>
          <p:nvPr/>
        </p:nvSpPr>
        <p:spPr>
          <a:xfrm>
            <a:off x="502920" y="5074920"/>
            <a:ext cx="5486400" cy="1280100"/>
          </a:xfrm>
          <a:prstGeom prst="roundRect">
            <a:avLst>
              <a:gd fmla="val 6429" name="adj"/>
            </a:avLst>
          </a:prstGeom>
          <a:solidFill>
            <a:srgbClr val="F1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3b5badd0a_0_321"/>
          <p:cNvSpPr/>
          <p:nvPr/>
        </p:nvSpPr>
        <p:spPr>
          <a:xfrm>
            <a:off x="777240" y="5212080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A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46A5"/>
                </a:solidFill>
                <a:latin typeface="Calibri"/>
                <a:ea typeface="Calibri"/>
                <a:cs typeface="Calibri"/>
                <a:sym typeface="Calibri"/>
              </a:rPr>
              <a:t>COMPLEJIDAD COMPUTACIONAL · MODERADA-ALTA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3b5badd0a_0_321"/>
          <p:cNvSpPr/>
          <p:nvPr/>
        </p:nvSpPr>
        <p:spPr>
          <a:xfrm>
            <a:off x="777240" y="5468112"/>
            <a:ext cx="502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Bagging con árboles independientes entrenados en paralelo (127 árboles en Li &amp; Chen): escala mejor que el boosting secuencial de XGBoost/LightGBM.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3b5badd0a_0_321"/>
          <p:cNvSpPr/>
          <p:nvPr/>
        </p:nvSpPr>
        <p:spPr>
          <a:xfrm>
            <a:off x="6263640" y="5074920"/>
            <a:ext cx="5440800" cy="1280100"/>
          </a:xfrm>
          <a:prstGeom prst="roundRect">
            <a:avLst>
              <a:gd fmla="val 6429" name="adj"/>
            </a:avLst>
          </a:prstGeom>
          <a:solidFill>
            <a:srgbClr val="F1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3b5badd0a_0_321"/>
          <p:cNvSpPr/>
          <p:nvPr/>
        </p:nvSpPr>
        <p:spPr>
          <a:xfrm>
            <a:off x="6537960" y="5212080"/>
            <a:ext cx="493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A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46A5"/>
                </a:solidFill>
                <a:latin typeface="Calibri"/>
                <a:ea typeface="Calibri"/>
                <a:cs typeface="Calibri"/>
                <a:sym typeface="Calibri"/>
              </a:rPr>
              <a:t>INTERPRETABILIDAD · 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3b5badd0a_0_321"/>
          <p:cNvSpPr/>
          <p:nvPr/>
        </p:nvSpPr>
        <p:spPr>
          <a:xfrm>
            <a:off x="6537960" y="5468112"/>
            <a:ext cx="493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rPr>
              <a:t>Feature importance + SHAP/LIME para reportes explicables por solicitante (Shreya &amp; Pathak, 2025): clave para justificar rechazos ante clientes y reguladores.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3b5badd0a_0_321"/>
          <p:cNvSpPr/>
          <p:nvPr/>
        </p:nvSpPr>
        <p:spPr>
          <a:xfrm>
            <a:off x="11430000" y="64739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b5badd0a_0_390"/>
          <p:cNvSpPr/>
          <p:nvPr/>
        </p:nvSpPr>
        <p:spPr>
          <a:xfrm>
            <a:off x="502920" y="384048"/>
            <a:ext cx="567000" cy="5670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g3f3b5badd0a_0_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93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3b5badd0a_0_390"/>
          <p:cNvSpPr/>
          <p:nvPr/>
        </p:nvSpPr>
        <p:spPr>
          <a:xfrm>
            <a:off x="1234440" y="365760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C5CE7"/>
                </a:solidFill>
                <a:latin typeface="Calibri"/>
                <a:ea typeface="Calibri"/>
                <a:cs typeface="Calibri"/>
                <a:sym typeface="Calibri"/>
              </a:rPr>
              <a:t>PARTE IV · 4.2 MODELO NO SUPERVISADO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3b5badd0a_0_390"/>
          <p:cNvSpPr/>
          <p:nvPr/>
        </p:nvSpPr>
        <p:spPr>
          <a:xfrm>
            <a:off x="1234440" y="603504"/>
            <a:ext cx="10424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K-Means: elección por practicidad operativa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3b5badd0a_0_390"/>
          <p:cNvSpPr/>
          <p:nvPr/>
        </p:nvSpPr>
        <p:spPr>
          <a:xfrm>
            <a:off x="502920" y="1417320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A7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2A72"/>
                </a:solidFill>
                <a:latin typeface="Calibri"/>
                <a:ea typeface="Calibri"/>
                <a:cs typeface="Calibri"/>
                <a:sym typeface="Calibri"/>
              </a:rPr>
              <a:t>Silhouette score por algoritmo en dos estudios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3b5badd0a_0_390"/>
          <p:cNvSpPr/>
          <p:nvPr/>
        </p:nvSpPr>
        <p:spPr>
          <a:xfrm>
            <a:off x="502920" y="5257800"/>
            <a:ext cx="6675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8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Ningún algoritmo domina de forma consistente: gana el Jerárquico en banca y GMM en retail; K-Means nunca es el mejor, pero tampoco el último.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3b5badd0a_0_390"/>
          <p:cNvSpPr/>
          <p:nvPr/>
        </p:nvSpPr>
        <p:spPr>
          <a:xfrm>
            <a:off x="7498080" y="1417320"/>
            <a:ext cx="4206300" cy="480060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3b5badd0a_0_390"/>
          <p:cNvSpPr/>
          <p:nvPr/>
        </p:nvSpPr>
        <p:spPr>
          <a:xfrm>
            <a:off x="7772400" y="1600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¿POR QUÉ K-MEANS?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3b5badd0a_0_390"/>
          <p:cNvSpPr/>
          <p:nvPr/>
        </p:nvSpPr>
        <p:spPr>
          <a:xfrm>
            <a:off x="7772425" y="2007612"/>
            <a:ext cx="3657600" cy="30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consenso estadístico, decide la operación: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5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D5F2"/>
                </a:solidFill>
                <a:latin typeface="Calibri"/>
                <a:ea typeface="Calibri"/>
                <a:cs typeface="Calibri"/>
                <a:sym typeface="Calibri"/>
              </a:rPr>
              <a:t>Escalable ante una cartera que crece constantemente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5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D5F2"/>
                </a:solidFill>
                <a:latin typeface="Calibri"/>
                <a:ea typeface="Calibri"/>
                <a:cs typeface="Calibri"/>
                <a:sym typeface="Calibri"/>
              </a:rPr>
              <a:t>Económico de reentrenar e integrar en un flujo de scoring en producción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D8D5F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8D5F2"/>
                </a:solidFill>
                <a:latin typeface="Calibri"/>
                <a:ea typeface="Calibri"/>
                <a:cs typeface="Calibri"/>
                <a:sym typeface="Calibri"/>
              </a:rPr>
              <a:t>Fácil de explicar a las áreas comerciales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Los descartados: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D8D5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5F2"/>
                </a:solidFill>
                <a:latin typeface="Calibri"/>
                <a:ea typeface="Calibri"/>
                <a:cs typeface="Calibri"/>
                <a:sym typeface="Calibri"/>
              </a:rPr>
              <a:t>Jerárquico: O(n²), no asigna clientes nuevos sin recalcular todo. DBSCAN: sensible a eps/min_samples; útil solo para outliers. GMM: alternativa "suave", pero exige más datos y cómputo.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3b5badd0a_0_390"/>
          <p:cNvSpPr/>
          <p:nvPr/>
        </p:nvSpPr>
        <p:spPr>
          <a:xfrm>
            <a:off x="11430000" y="64739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8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g3f3b5badd0a_0_390" title="Puntuación lograd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875" y="1843920"/>
            <a:ext cx="5274630" cy="326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no supervisado: K-Means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5 segmentos esperados, validados con método del codo y coeficiente de silueta. Variables estandarizadas.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48640" y="1783080"/>
            <a:ext cx="2121408" cy="3291840"/>
          </a:xfrm>
          <a:prstGeom prst="roundRect">
            <a:avLst>
              <a:gd fmla="val 431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1225296" y="210312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888" y="22677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/>
          <p:nvPr/>
        </p:nvSpPr>
        <p:spPr>
          <a:xfrm>
            <a:off x="640080" y="306324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Premium bajo riesgo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58368" y="3886200"/>
            <a:ext cx="19019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↑ línea, tasas preferenciales, cross-sell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788920" y="1783080"/>
            <a:ext cx="2121408" cy="3291840"/>
          </a:xfrm>
          <a:prstGeom prst="roundRect">
            <a:avLst>
              <a:gd fmla="val 431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465576" y="2103120"/>
            <a:ext cx="768000" cy="7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0168" y="22677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2880360" y="306324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Emergentes con potencial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2898648" y="3886200"/>
            <a:ext cx="19019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Acompañamiento y crecimiento gradual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029200" y="1783080"/>
            <a:ext cx="2121408" cy="3291840"/>
          </a:xfrm>
          <a:prstGeom prst="roundRect">
            <a:avLst>
              <a:gd fmla="val 431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705856" y="210312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448" y="22677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5120640" y="306324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Riesgo moderado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138928" y="3886200"/>
            <a:ext cx="19019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Monitoreo reforzado, ajuste preventivo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269480" y="1783080"/>
            <a:ext cx="2121408" cy="3291840"/>
          </a:xfrm>
          <a:prstGeom prst="roundRect">
            <a:avLst>
              <a:gd fmla="val 431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946136" y="210312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0728" y="22677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/>
          <p:nvPr/>
        </p:nvSpPr>
        <p:spPr>
          <a:xfrm>
            <a:off x="7360920" y="306324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Alto riesgo / morosos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379208" y="3886200"/>
            <a:ext cx="19019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Cobranza temprana, restricción de líneas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9509760" y="1783080"/>
            <a:ext cx="2121408" cy="3291840"/>
          </a:xfrm>
          <a:prstGeom prst="roundRect">
            <a:avLst>
              <a:gd fmla="val 431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10186416" y="210312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1008" y="22677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/>
          <p:nvPr/>
        </p:nvSpPr>
        <p:spPr>
          <a:xfrm>
            <a:off x="9601200" y="3063240"/>
            <a:ext cx="1938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Baja rentabilidad / inactivos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9619488" y="3886200"/>
            <a:ext cx="19019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Reactivar con campañas o discontinuar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fmla="val 8421" name="adj"/>
            </a:avLst>
          </a:prstGeom>
          <a:solidFill>
            <a:srgbClr val="1E276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777240" y="5559552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Dimensiones de segmentación: 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capacidad de pago · comportamiento de pago · relación con la empresa · comportamiento transaccional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Hallazgos estratégicos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82022" y="132588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556342" y="1554480"/>
            <a:ext cx="1737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339422" y="160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 clientes en alto riesgo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56342" y="265176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Scoring dinámico, pricing por riesgo y seguimiento proactivo pre-mora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408502" y="132588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6682822" y="1554480"/>
            <a:ext cx="1737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8465902" y="160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segmentos de baja rentabilidad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682822" y="265176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Cruzar riesgo × rentabilidad: canales de menor costo o rediseño de producto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82022" y="402336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556342" y="4251960"/>
            <a:ext cx="1737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339422" y="42976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 la predicción la explica el historial de pagos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56342" y="534924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Cuidar la calidad del dato y crear estrategia para clientes sin historial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408502" y="402336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682822" y="4251960"/>
            <a:ext cx="1737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N°2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465902" y="42976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variable más importante: deuda/ingresos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682822" y="534924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Filtro duro de aprobación y señal temprana de deterioro macro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773e2a69_0_0"/>
          <p:cNvSpPr txBox="1"/>
          <p:nvPr/>
        </p:nvSpPr>
        <p:spPr>
          <a:xfrm>
            <a:off x="589050" y="451175"/>
            <a:ext cx="581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Recomendaciones estratégicas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5773e2a69_0_0"/>
          <p:cNvSpPr/>
          <p:nvPr/>
        </p:nvSpPr>
        <p:spPr>
          <a:xfrm>
            <a:off x="282022" y="132588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5773e2a69_0_0"/>
          <p:cNvSpPr/>
          <p:nvPr/>
        </p:nvSpPr>
        <p:spPr>
          <a:xfrm>
            <a:off x="6408502" y="132588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5773e2a69_0_0"/>
          <p:cNvSpPr/>
          <p:nvPr/>
        </p:nvSpPr>
        <p:spPr>
          <a:xfrm>
            <a:off x="282022" y="402336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5773e2a69_0_0"/>
          <p:cNvSpPr/>
          <p:nvPr/>
        </p:nvSpPr>
        <p:spPr>
          <a:xfrm>
            <a:off x="6408502" y="4023360"/>
            <a:ext cx="5486400" cy="2331600"/>
          </a:xfrm>
          <a:prstGeom prst="roundRect">
            <a:avLst>
              <a:gd fmla="val 3922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5773e2a69_0_0"/>
          <p:cNvSpPr/>
          <p:nvPr/>
        </p:nvSpPr>
        <p:spPr>
          <a:xfrm>
            <a:off x="532022" y="1575880"/>
            <a:ext cx="4986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Activar scoring dinámico de riesgo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5773e2a69_0_0"/>
          <p:cNvSpPr/>
          <p:nvPr/>
        </p:nvSpPr>
        <p:spPr>
          <a:xfrm>
            <a:off x="532022" y="2225880"/>
            <a:ext cx="49864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Poner Random Forest en producción para priorizar Recall, ajustar pricing por nivel de riesgo y anticipar la mora del 9% de clientes de alto riesgo con alertas pre-incumplimiento.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5773e2a69_0_0"/>
          <p:cNvSpPr/>
          <p:nvPr/>
        </p:nvSpPr>
        <p:spPr>
          <a:xfrm>
            <a:off x="6658502" y="1575880"/>
            <a:ext cx="4986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Rediseñar los segmentos poco rentables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5773e2a69_0_0"/>
          <p:cNvSpPr/>
          <p:nvPr/>
        </p:nvSpPr>
        <p:spPr>
          <a:xfrm>
            <a:off x="6658502" y="2225880"/>
            <a:ext cx="49864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Cruzar los clusters de K-Means con rentabilidad: potenciar cross-sell en “premium bajo riesgo” y “emergentes con potencial”, y reconvertir o discontinuar los 3 segmentos de baja rentabilidad.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5773e2a69_0_0"/>
          <p:cNvSpPr/>
          <p:nvPr/>
        </p:nvSpPr>
        <p:spPr>
          <a:xfrm>
            <a:off x="532022" y="4273360"/>
            <a:ext cx="4986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Fortalecer la calidad del historial crediticio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5773e2a69_0_0"/>
          <p:cNvSpPr/>
          <p:nvPr/>
        </p:nvSpPr>
        <p:spPr>
          <a:xfrm>
            <a:off x="532022" y="4923360"/>
            <a:ext cx="49864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Dado que el historial de pagos explica el 42% de la predicción, mejorar su captura y trazabilidad, y definir un score alterno para clientes nuevos o sin historial.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5773e2a69_0_0"/>
          <p:cNvSpPr/>
          <p:nvPr/>
        </p:nvSpPr>
        <p:spPr>
          <a:xfrm>
            <a:off x="6658502" y="4273360"/>
            <a:ext cx="4986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Instituir monitoreo y MLOps continuo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5773e2a69_0_0"/>
          <p:cNvSpPr/>
          <p:nvPr/>
        </p:nvSpPr>
        <p:spPr>
          <a:xfrm>
            <a:off x="6658502" y="4923360"/>
            <a:ext cx="49864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Vigilar el ratio deuda/ingresos y la estabilidad del modelo con el semáforo PSI, reentrenar ante alertas y mantener un esquema champion/challenger frente a contextos económicos adversos.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3b863e7e3_0_45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3b863e7e3_0_45"/>
          <p:cNvSpPr/>
          <p:nvPr/>
        </p:nvSpPr>
        <p:spPr>
          <a:xfrm>
            <a:off x="548640" y="64008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3b863e7e3_0_4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3b863e7e3_0_4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3b863e7e3_0_45"/>
          <p:cNvSpPr/>
          <p:nvPr/>
        </p:nvSpPr>
        <p:spPr>
          <a:xfrm>
            <a:off x="1325880" y="1755648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CRISP-DM permitió estructurar la solución de punta a punta: del diagnóstico de negocio al despliegue.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3b863e7e3_0_4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3b863e7e3_0_45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3b863e7e3_0_45"/>
          <p:cNvSpPr/>
          <p:nvPr/>
        </p:nvSpPr>
        <p:spPr>
          <a:xfrm>
            <a:off x="1325880" y="2761488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ofrece el mejor balance para priorizar Recall en un contexto donde el falso negativo es más costoso.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3b863e7e3_0_4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3b863e7e3_0_45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3b863e7e3_0_45"/>
          <p:cNvSpPr/>
          <p:nvPr/>
        </p:nvSpPr>
        <p:spPr>
          <a:xfrm>
            <a:off x="1325880" y="3767328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se justifica por practicidad operativa y escalabilidad ante una cartera en crecimiento constante.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3b863e7e3_0_4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3b863e7e3_0_45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3b863e7e3_0_45"/>
          <p:cNvSpPr/>
          <p:nvPr/>
        </p:nvSpPr>
        <p:spPr>
          <a:xfrm>
            <a:off x="1325880" y="4773168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historial de pagos y el ratio deuda/ingresos concentran la mayor capacidad predictiva del modelo.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Escenario adverso: model drift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 inflación alta, el modelo pierde precisión: los datos ya no provienen de la misma distribución con la que se entrenó.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48640" y="1783080"/>
            <a:ext cx="5394960" cy="1188720"/>
          </a:xfrm>
          <a:prstGeom prst="roundRect">
            <a:avLst>
              <a:gd fmla="val 6923" name="adj"/>
            </a:avLst>
          </a:prstGeom>
          <a:solidFill>
            <a:srgbClr val="FD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777240" y="189280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Data drift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777240" y="22402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Cambia la distribución de las variables: ingresos reales caen, endeudamiento sube, transacciones se alteran.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48640" y="3154680"/>
            <a:ext cx="5394960" cy="1188720"/>
          </a:xfrm>
          <a:prstGeom prst="roundRect">
            <a:avLst>
              <a:gd fmla="val 6923" name="adj"/>
            </a:avLst>
          </a:prstGeom>
          <a:solidFill>
            <a:srgbClr val="FD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777240" y="326440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Concept drift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77240" y="36118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Cambia la relación variable → incumplimiento: un ratio deuda/ingresos antes “seguro” hoy es riesgoso.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492240" y="17830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Detección: semáforo PSI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6492240" y="233172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7040880" y="22860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Verde:  </a:t>
            </a:r>
            <a:r>
              <a:rPr b="0" i="0" lang="en-US" sz="13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PSI &lt; 0.10 — operación normal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6492240" y="2953512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7040880" y="29077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Amarillo:  </a:t>
            </a:r>
            <a:r>
              <a:rPr b="0" i="0" lang="en-US" sz="13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PSI 0.10–0.25 — investigar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492240" y="3575304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7040880" y="352958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Rojo:  </a:t>
            </a:r>
            <a:r>
              <a:rPr b="0" i="0" lang="en-US" sz="13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PSI &gt; 0.25 — recalibración obligatoria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6492240" y="42062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+ AUC/KS por cosecha, calibración por decil e importancia de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Estrategias de respuesta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48640" y="5212080"/>
            <a:ext cx="2697480" cy="9144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58368" y="525780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Reentrenamiento con datos recientes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355848" y="5212080"/>
            <a:ext cx="2697480" cy="9144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3465576" y="525780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macroeconómicas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163056" y="5212080"/>
            <a:ext cx="2697480" cy="9144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272784" y="525780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 / Challenger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970264" y="5212080"/>
            <a:ext cx="2697480" cy="9144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9079992" y="5257800"/>
            <a:ext cx="2478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 táctico del punto de corte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E276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Gobernanza y MLOps: el ciclo no termina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48640" y="1600200"/>
            <a:ext cx="2057400" cy="2834640"/>
          </a:xfrm>
          <a:prstGeom prst="roundRect">
            <a:avLst>
              <a:gd fmla="val 4444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229868" y="1874520"/>
            <a:ext cx="694944" cy="69494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316" y="2029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640080" y="2743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Monitorear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58368" y="3200400"/>
            <a:ext cx="1837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Dashboard semanal: PSI, AUC, calibración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551176" y="278892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2770632" y="1600200"/>
            <a:ext cx="2057400" cy="2834640"/>
          </a:xfrm>
          <a:prstGeom prst="roundRect">
            <a:avLst>
              <a:gd fmla="val 4444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3451860" y="1874520"/>
            <a:ext cx="694944" cy="69494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7308" y="2029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2862072" y="2743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2880360" y="3200400"/>
            <a:ext cx="1837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Umbrales verde / amarillo / rojo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773168" y="278892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992624" y="1600200"/>
            <a:ext cx="2057400" cy="2834640"/>
          </a:xfrm>
          <a:prstGeom prst="roundRect">
            <a:avLst>
              <a:gd fmla="val 4444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5673852" y="1874520"/>
            <a:ext cx="694944" cy="69494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0" y="2029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5084064" y="2743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Reentrenar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102352" y="3200400"/>
            <a:ext cx="1837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Trimestral-semestral o por alerta roja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995160" y="278892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7214616" y="1600200"/>
            <a:ext cx="2057400" cy="2834640"/>
          </a:xfrm>
          <a:prstGeom prst="roundRect">
            <a:avLst>
              <a:gd fmla="val 4444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7895844" y="1874520"/>
            <a:ext cx="694944" cy="69494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1292" y="2029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/>
          <p:nvPr/>
        </p:nvSpPr>
        <p:spPr>
          <a:xfrm>
            <a:off x="7306056" y="2743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7324344" y="3200400"/>
            <a:ext cx="1837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Backtesting vs. champion + comité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9217152" y="2788920"/>
            <a:ext cx="329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9436608" y="1600200"/>
            <a:ext cx="2057400" cy="2834640"/>
          </a:xfrm>
          <a:prstGeom prst="roundRect">
            <a:avLst>
              <a:gd fmla="val 4444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10117836" y="1874520"/>
            <a:ext cx="694944" cy="69494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73284" y="20299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9"/>
          <p:cNvSpPr/>
          <p:nvPr/>
        </p:nvSpPr>
        <p:spPr>
          <a:xfrm>
            <a:off x="9528048" y="2743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Desplegar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9546336" y="3200400"/>
            <a:ext cx="1837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Gradual (canary / shadow) y versionado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1097280" y="498348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“El despliegue no es el final del proyecto: es el inicio de un ciclo permanente de evaluación y mejora.”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1097280" y="580644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Gobernanza: roles definidos · model card · calidad de datos en la ingesta · trazabilidad de cada predicción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2026-07-19T15:33:09Z</dcterms:created>
  <dc:creator>PptxGenJS</dc:creator>
</cp:coreProperties>
</file>